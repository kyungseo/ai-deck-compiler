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Commits by day</c:v>
                </c:pt>
              </c:strCache>
            </c:strRef>
          </c:tx>
          <c:spPr>
            <a:solidFill>
              <a:srgbClr val="7B6CF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8B8FA8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7B6CF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5340C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A89BF8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May 30</c:v>
                  </c:pt>
                  <c:pt idx="1">
                    <c:v>May 31</c:v>
                  </c:pt>
                  <c:pt idx="2">
                    <c:v>Jun 01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24</c:v>
                </c:pt>
                <c:pt idx="1">
                  <c:v>33</c:v>
                </c:pt>
                <c:pt idx="2">
                  <c:v>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8B8FA8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7A809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7A809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Cleanup load index</c:v>
                </c:pt>
              </c:strCache>
            </c:strRef>
          </c:tx>
          <c:spPr>
            <a:solidFill>
              <a:srgbClr val="7B6CF6"/>
            </a:solidFill>
            <a:ln w="25400" cap="flat">
              <a:solidFill>
                <a:srgbClr val="7B6CF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8B8FA8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7B6CF6"/>
              </a:solidFill>
              <a:ln w="9525" cap="flat">
                <a:solidFill>
                  <a:srgbClr val="7B6CF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Draft</c:v>
                  </c:pt>
                  <c:pt idx="1">
                    <c:v>Review</c:v>
                  </c:pt>
                  <c:pt idx="2">
                    <c:v>Preview</c:v>
                  </c:pt>
                  <c:pt idx="3">
                    <c:v>Final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100</c:v>
                </c:pt>
                <c:pt idx="1">
                  <c:v>64</c:v>
                </c:pt>
                <c:pt idx="2">
                  <c:v>38</c:v>
                </c:pt>
                <c:pt idx="3">
                  <c:v>20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8B8FA8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7A809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7A809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21824" y="256032"/>
            <a:ext cx="1463040" cy="347472"/>
          </a:xfrm>
          <a:prstGeom prst="roundRect">
            <a:avLst>
              <a:gd name="adj" fmla="val 15789"/>
            </a:avLst>
          </a:prstGeom>
          <a:solidFill>
            <a:srgbClr val="1C1F35"/>
          </a:solidFill>
          <a:ln w="12700">
            <a:solidFill>
              <a:srgbClr val="1C1F3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0021824" y="256032"/>
            <a:ext cx="1463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B7B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v1.0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12648" y="1828800"/>
            <a:ext cx="10972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4046220" y="2907792"/>
            <a:ext cx="4096512" cy="45720"/>
          </a:xfrm>
          <a:prstGeom prst="rect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2648" y="324612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8B8F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자연어를 의미 기반 blueprint로 바꾸고, editable PPTX로 컴파일한다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12648" y="3931920"/>
            <a:ext cx="10972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7B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Blueprint Planning · Editable PowerPoint · Preset System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12648" y="44348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280160" cy="256032"/>
          </a:xfrm>
          <a:prstGeom prst="roundRect">
            <a:avLst>
              <a:gd name="adj" fmla="val 14286"/>
            </a:avLst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02412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00. AGENDA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볼 것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161824"/>
          </a:solidFill>
          <a:ln w="12700">
            <a:solidFill>
              <a:srgbClr val="16182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1248" y="1874520"/>
            <a:ext cx="3334512" cy="1997964"/>
          </a:xfrm>
          <a:prstGeom prst="roundRect">
            <a:avLst>
              <a:gd name="adj" fmla="val 4577"/>
            </a:avLst>
          </a:prstGeom>
          <a:solidFill>
            <a:srgbClr val="1C1F35"/>
          </a:solidFill>
          <a:ln w="12700">
            <a:solidFill>
              <a:srgbClr val="1C1F3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24128" y="2075688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B7B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024128" y="2459736"/>
            <a:ext cx="365760" cy="36576"/>
          </a:xfrm>
          <a:prstGeom prst="rect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24128" y="2587752"/>
            <a:ext cx="2968752" cy="11018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bullet deck 생성만으로는 부족한가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431792" y="1874520"/>
            <a:ext cx="3334512" cy="1997964"/>
          </a:xfrm>
          <a:prstGeom prst="roundRect">
            <a:avLst>
              <a:gd name="adj" fmla="val 4577"/>
            </a:avLst>
          </a:prstGeom>
          <a:solidFill>
            <a:srgbClr val="1C1F35"/>
          </a:solidFill>
          <a:ln w="12700">
            <a:solidFill>
              <a:srgbClr val="1C1F3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14672" y="2075688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B7B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614672" y="2459736"/>
            <a:ext cx="365760" cy="36576"/>
          </a:xfrm>
          <a:prstGeom prst="rect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4672" y="2587752"/>
            <a:ext cx="2968752" cy="11018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ai-deck-compiler가 blueprint 품질을 다루는 방식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22336" y="1874520"/>
            <a:ext cx="3334512" cy="1997964"/>
          </a:xfrm>
          <a:prstGeom prst="roundRect">
            <a:avLst>
              <a:gd name="adj" fmla="val 4577"/>
            </a:avLst>
          </a:prstGeom>
          <a:solidFill>
            <a:srgbClr val="1C1F35"/>
          </a:solidFill>
          <a:ln w="12700">
            <a:solidFill>
              <a:srgbClr val="1C1F3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05216" y="2075688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B7B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205216" y="2459736"/>
            <a:ext cx="365760" cy="36576"/>
          </a:xfrm>
          <a:prstGeom prst="rect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05216" y="2587752"/>
            <a:ext cx="2968752" cy="11018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지원 slide type과 preset 결과물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41248" y="4128516"/>
            <a:ext cx="3334512" cy="1997964"/>
          </a:xfrm>
          <a:prstGeom prst="roundRect">
            <a:avLst>
              <a:gd name="adj" fmla="val 4577"/>
            </a:avLst>
          </a:prstGeom>
          <a:solidFill>
            <a:srgbClr val="1C1F35"/>
          </a:solidFill>
          <a:ln w="12700">
            <a:solidFill>
              <a:srgbClr val="1C1F3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24128" y="4329684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B7B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1024128" y="4713732"/>
            <a:ext cx="365760" cy="36576"/>
          </a:xfrm>
          <a:prstGeom prst="rect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24128" y="4841748"/>
            <a:ext cx="2968752" cy="11018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create-deck workflow와 검증 루프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4431792" y="4128516"/>
            <a:ext cx="3334512" cy="1997964"/>
          </a:xfrm>
          <a:prstGeom prst="roundRect">
            <a:avLst>
              <a:gd name="adj" fmla="val 4577"/>
            </a:avLst>
          </a:prstGeom>
          <a:solidFill>
            <a:srgbClr val="1C1F35"/>
          </a:solidFill>
          <a:ln w="12700">
            <a:solidFill>
              <a:srgbClr val="1C1F3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614672" y="4329684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B7B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614672" y="4713732"/>
            <a:ext cx="365760" cy="36576"/>
          </a:xfrm>
          <a:prstGeom prst="rect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614672" y="4841748"/>
            <a:ext cx="2968752" cy="11018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대표 showcase 결과물이 갖춰야 할 기준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 / 18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0" cy="6858000"/>
          </a:xfrm>
          <a:prstGeom prst="rect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5212080"/>
            <a:ext cx="3200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FFFFFF">
                    <a:alpha val="75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600" dirty="0"/>
          </a:p>
        </p:txBody>
      </p:sp>
      <p:sp>
        <p:nvSpPr>
          <p:cNvPr id="4" name="Text 2"/>
          <p:cNvSpPr/>
          <p:nvPr/>
        </p:nvSpPr>
        <p:spPr>
          <a:xfrm>
            <a:off x="3657600" y="219456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957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657600" y="2606040"/>
            <a:ext cx="1371600" cy="45720"/>
          </a:xfrm>
          <a:prstGeom prst="rect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0" y="2697480"/>
            <a:ext cx="78638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From Prompt To Deck</a:t>
            </a:r>
            <a:endParaRPr lang="en-US" sz="4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554480" cy="256032"/>
          </a:xfrm>
          <a:prstGeom prst="roundRect">
            <a:avLst>
              <a:gd name="adj" fmla="val 14286"/>
            </a:avLst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29844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01. PRINCIPLE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결과물은 편집 가능한 구조다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161824"/>
          </a:solidFill>
          <a:ln w="12700">
            <a:solidFill>
              <a:srgbClr val="16182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6263640"/>
            <a:ext cx="12188952" cy="310896"/>
          </a:xfrm>
          <a:prstGeom prst="rect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12648" y="6263640"/>
            <a:ext cx="10972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AI는 내용을 읽고 표현 방식을 고르며, renderer는 그 결정을 안정적인 PPTX로 만든다.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41248" y="1874520"/>
            <a:ext cx="10515600" cy="4251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8B8F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자연어 요청은 narrative spine과 slide plan으로 먼저 정리된다.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8B8F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수치, 구조, 결정, 요약은 각각 KPI, chart, architecture, decision, summary로 승격된다.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8B8F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최종 산출물은 이미지가 아니라 텍스트, 표, 차트, 도형으로 편집 가능한 PowerPoint다.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463040" cy="256032"/>
          </a:xfrm>
          <a:prstGeom prst="roundRect">
            <a:avLst>
              <a:gd name="adj" fmla="val 14286"/>
            </a:avLst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20700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01. CONTRAST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Bullet-first와 Blueprint-first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161824"/>
          </a:solidFill>
          <a:ln w="12700">
            <a:solidFill>
              <a:srgbClr val="16182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1248" y="1874520"/>
            <a:ext cx="73152" cy="329184"/>
          </a:xfrm>
          <a:prstGeom prst="rect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187452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957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BULLET-FIRST DECK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6236208" y="1874520"/>
            <a:ext cx="73152" cy="329184"/>
          </a:xfrm>
          <a:prstGeom prst="rect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0" y="187452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957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BLUEPRINT-FIRST DECK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099048" y="1874520"/>
            <a:ext cx="9144" cy="4251960"/>
          </a:xfrm>
          <a:prstGeom prst="rect">
            <a:avLst/>
          </a:prstGeom>
          <a:solidFill>
            <a:srgbClr val="2A2D4A"/>
          </a:solidFill>
          <a:ln w="12700">
            <a:solidFill>
              <a:srgbClr val="2A2D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1248" y="2377440"/>
            <a:ext cx="512064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8B8F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모든 내용을 비슷한 bullet slide로 압축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8B8F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chart와 architecture가 수동 후처리로 밀림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8B8F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디자인과 구조가 prompt마다 흔들림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8B8F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기준이 주관적 시각 확인에 머무름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373368" y="2377440"/>
            <a:ext cx="512064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8B8F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내용의 성격에 맞는 slide type을 먼저 선택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8B8F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schema가 chart, table, diagram data를 보존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8B8F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preset token으로 일관된 visual system 적용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8B8F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validate, deck, preview 루프로 검증 가능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 / 18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371600" cy="256032"/>
          </a:xfrm>
          <a:prstGeom prst="roundRect">
            <a:avLst>
              <a:gd name="adj" fmla="val 14286"/>
            </a:avLst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11556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02. QUALITY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의미에 맞는 표현을 고른다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161824"/>
          </a:solidFill>
          <a:ln w="12700">
            <a:solidFill>
              <a:srgbClr val="16182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099048" y="1874520"/>
            <a:ext cx="9144" cy="4251960"/>
          </a:xfrm>
          <a:prstGeom prst="rect">
            <a:avLst/>
          </a:prstGeom>
          <a:solidFill>
            <a:srgbClr val="2A2D4A"/>
          </a:solidFill>
          <a:ln w="12700">
            <a:solidFill>
              <a:srgbClr val="2A2D4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41248" y="1874520"/>
            <a:ext cx="5120640" cy="438912"/>
          </a:xfrm>
          <a:prstGeom prst="rect">
            <a:avLst/>
          </a:prstGeom>
          <a:solidFill>
            <a:srgbClr val="131626"/>
          </a:solidFill>
          <a:ln w="12700">
            <a:solidFill>
              <a:srgbClr val="2A2D4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78408" y="1956816"/>
            <a:ext cx="73152" cy="274320"/>
          </a:xfrm>
          <a:prstGeom prst="rect">
            <a:avLst/>
          </a:prstGeom>
          <a:solidFill>
            <a:srgbClr val="7A809A"/>
          </a:solidFill>
          <a:ln w="12700">
            <a:solidFill>
              <a:srgbClr val="7A809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43000" y="1874520"/>
            <a:ext cx="4800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입력만 보는 방식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841248" y="2423160"/>
            <a:ext cx="5120640" cy="658368"/>
          </a:xfrm>
          <a:prstGeom prst="rect">
            <a:avLst/>
          </a:prstGeom>
          <a:solidFill>
            <a:srgbClr val="131626"/>
          </a:solidFill>
          <a:ln w="12700">
            <a:solidFill>
              <a:srgbClr val="2A2D4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78408" y="2551176"/>
            <a:ext cx="292608" cy="292608"/>
          </a:xfrm>
          <a:prstGeom prst="rect">
            <a:avLst/>
          </a:prstGeom>
          <a:solidFill>
            <a:srgbClr val="7A809A"/>
          </a:solidFill>
          <a:ln w="12700">
            <a:solidFill>
              <a:srgbClr val="7A809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551176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×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389888" y="2423160"/>
            <a:ext cx="44348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“요약해줘”를 여러 bullet로 변환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978408" y="3209544"/>
            <a:ext cx="292608" cy="292608"/>
          </a:xfrm>
          <a:prstGeom prst="rect">
            <a:avLst/>
          </a:prstGeom>
          <a:solidFill>
            <a:srgbClr val="7A809A"/>
          </a:solidFill>
          <a:ln w="12700">
            <a:solidFill>
              <a:srgbClr val="7A809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78408" y="320954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×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389888" y="3081528"/>
            <a:ext cx="44348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중요 문장을 모두 같은 레벨로 표시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841248" y="3739896"/>
            <a:ext cx="5120640" cy="658368"/>
          </a:xfrm>
          <a:prstGeom prst="rect">
            <a:avLst/>
          </a:prstGeom>
          <a:solidFill>
            <a:srgbClr val="131626"/>
          </a:solidFill>
          <a:ln w="12700">
            <a:solidFill>
              <a:srgbClr val="2A2D4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78408" y="3867912"/>
            <a:ext cx="292608" cy="292608"/>
          </a:xfrm>
          <a:prstGeom prst="rect">
            <a:avLst/>
          </a:prstGeom>
          <a:solidFill>
            <a:srgbClr val="7A809A"/>
          </a:solidFill>
          <a:ln w="12700">
            <a:solidFill>
              <a:srgbClr val="7A809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78408" y="386791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×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389888" y="3739896"/>
            <a:ext cx="44348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수치와 흐름을 텍스트에 묻어둠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6236208" y="1874520"/>
            <a:ext cx="5120640" cy="438912"/>
          </a:xfrm>
          <a:prstGeom prst="rect">
            <a:avLst/>
          </a:prstGeom>
          <a:solidFill>
            <a:srgbClr val="1C1F35"/>
          </a:solidFill>
          <a:ln w="12700">
            <a:solidFill>
              <a:srgbClr val="2A2D4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373368" y="1956816"/>
            <a:ext cx="73152" cy="274320"/>
          </a:xfrm>
          <a:prstGeom prst="rect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37960" y="1874520"/>
            <a:ext cx="4800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957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의미를 보는 방식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6236208" y="2423160"/>
            <a:ext cx="5120640" cy="658368"/>
          </a:xfrm>
          <a:prstGeom prst="rect">
            <a:avLst/>
          </a:prstGeom>
          <a:solidFill>
            <a:srgbClr val="1C1F35"/>
          </a:solidFill>
          <a:ln w="12700">
            <a:solidFill>
              <a:srgbClr val="2A2D4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373368" y="2551176"/>
            <a:ext cx="292608" cy="292608"/>
          </a:xfrm>
          <a:prstGeom prst="rect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373368" y="2551176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784848" y="2423160"/>
            <a:ext cx="44348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수치는 KPI와 chart로 승격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6373368" y="3209544"/>
            <a:ext cx="292608" cy="292608"/>
          </a:xfrm>
          <a:prstGeom prst="rect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73368" y="320954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784848" y="3081528"/>
            <a:ext cx="44348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결정 문장은 recommendation으로 분리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236208" y="3739896"/>
            <a:ext cx="5120640" cy="658368"/>
          </a:xfrm>
          <a:prstGeom prst="rect">
            <a:avLst/>
          </a:prstGeom>
          <a:solidFill>
            <a:srgbClr val="1C1F35"/>
          </a:solidFill>
          <a:ln w="12700">
            <a:solidFill>
              <a:srgbClr val="2A2D4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373368" y="3867912"/>
            <a:ext cx="292608" cy="292608"/>
          </a:xfrm>
          <a:prstGeom prst="rect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373368" y="386791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784848" y="3739896"/>
            <a:ext cx="44348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시스템 관계는 architecture로 구조화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 / 18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645920" cy="256032"/>
          </a:xfrm>
          <a:prstGeom prst="roundRect">
            <a:avLst>
              <a:gd name="adj" fmla="val 14286"/>
            </a:avLst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38988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02. CAPABILITY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자료의 기본 블록을 지원한다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161824"/>
          </a:solidFill>
          <a:ln w="12700">
            <a:solidFill>
              <a:srgbClr val="16182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1248" y="1947672"/>
            <a:ext cx="2423160" cy="4114800"/>
          </a:xfrm>
          <a:prstGeom prst="roundRect">
            <a:avLst>
              <a:gd name="adj" fmla="val 3774"/>
            </a:avLst>
          </a:prstGeom>
          <a:solidFill>
            <a:srgbClr val="1C1F35"/>
          </a:solidFill>
          <a:ln w="12700">
            <a:solidFill>
              <a:srgbClr val="1C1F3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41248" y="1947672"/>
            <a:ext cx="2423160" cy="54864"/>
          </a:xfrm>
          <a:prstGeom prst="rect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41248" y="2450592"/>
            <a:ext cx="2423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8B7B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</a:t>
            </a:r>
            <a:endParaRPr lang="en-US" sz="5200" dirty="0"/>
          </a:p>
        </p:txBody>
      </p:sp>
      <p:sp>
        <p:nvSpPr>
          <p:cNvPr id="9" name="Text 7"/>
          <p:cNvSpPr/>
          <p:nvPr/>
        </p:nvSpPr>
        <p:spPr>
          <a:xfrm>
            <a:off x="841248" y="3822192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0B98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P1 + P2 coverage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41248" y="5376672"/>
            <a:ext cx="2423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Slide Types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538728" y="1947672"/>
            <a:ext cx="2423160" cy="4114800"/>
          </a:xfrm>
          <a:prstGeom prst="roundRect">
            <a:avLst>
              <a:gd name="adj" fmla="val 3774"/>
            </a:avLst>
          </a:prstGeom>
          <a:solidFill>
            <a:srgbClr val="1C1F35"/>
          </a:solidFill>
          <a:ln w="12700">
            <a:solidFill>
              <a:srgbClr val="1C1F3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538728" y="1947672"/>
            <a:ext cx="2423160" cy="54864"/>
          </a:xfrm>
          <a:prstGeom prst="rect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38728" y="2450592"/>
            <a:ext cx="2423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8B7B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51</a:t>
            </a:r>
            <a:endParaRPr lang="en-US" sz="5200" dirty="0"/>
          </a:p>
        </p:txBody>
      </p:sp>
      <p:sp>
        <p:nvSpPr>
          <p:cNvPr id="14" name="Text 12"/>
          <p:cNvSpPr/>
          <p:nvPr/>
        </p:nvSpPr>
        <p:spPr>
          <a:xfrm>
            <a:off x="3538728" y="3822192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0B98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parser/render/snapshot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538728" y="5376672"/>
            <a:ext cx="2423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Tests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36208" y="1947672"/>
            <a:ext cx="2423160" cy="4114800"/>
          </a:xfrm>
          <a:prstGeom prst="roundRect">
            <a:avLst>
              <a:gd name="adj" fmla="val 3774"/>
            </a:avLst>
          </a:prstGeom>
          <a:solidFill>
            <a:srgbClr val="1C1F35"/>
          </a:solidFill>
          <a:ln w="12700">
            <a:solidFill>
              <a:srgbClr val="1C1F3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36208" y="1947672"/>
            <a:ext cx="2423160" cy="54864"/>
          </a:xfrm>
          <a:prstGeom prst="rect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236208" y="2450592"/>
            <a:ext cx="2423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8B7B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5200" dirty="0"/>
          </a:p>
        </p:txBody>
      </p:sp>
      <p:sp>
        <p:nvSpPr>
          <p:cNvPr id="19" name="Text 17"/>
          <p:cNvSpPr/>
          <p:nvPr/>
        </p:nvSpPr>
        <p:spPr>
          <a:xfrm>
            <a:off x="6236208" y="3822192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0B98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teal/vivid/modern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236208" y="5376672"/>
            <a:ext cx="2423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Presets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8933688" y="1947672"/>
            <a:ext cx="2423160" cy="4114800"/>
          </a:xfrm>
          <a:prstGeom prst="roundRect">
            <a:avLst>
              <a:gd name="adj" fmla="val 3774"/>
            </a:avLst>
          </a:prstGeom>
          <a:solidFill>
            <a:srgbClr val="1C1F35"/>
          </a:solidFill>
          <a:ln w="12700">
            <a:solidFill>
              <a:srgbClr val="1C1F3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933688" y="1947672"/>
            <a:ext cx="2423160" cy="54864"/>
          </a:xfrm>
          <a:prstGeom prst="rect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933688" y="2450592"/>
            <a:ext cx="2423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8B7B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5200" dirty="0"/>
          </a:p>
        </p:txBody>
      </p:sp>
      <p:sp>
        <p:nvSpPr>
          <p:cNvPr id="24" name="Text 22"/>
          <p:cNvSpPr/>
          <p:nvPr/>
        </p:nvSpPr>
        <p:spPr>
          <a:xfrm>
            <a:off x="8933688" y="3822192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tracked PPTX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933688" y="5376672"/>
            <a:ext cx="2423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Result Sets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 / 18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920240" cy="256032"/>
          </a:xfrm>
          <a:prstGeom prst="roundRect">
            <a:avLst>
              <a:gd name="adj" fmla="val 14286"/>
            </a:avLst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66420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03. BUILD HISTORY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구현 이력은 빠르게 누적됐다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161824"/>
          </a:solidFill>
          <a:ln w="12700">
            <a:solidFill>
              <a:srgbClr val="161824"/>
            </a:solidFill>
            <a:prstDash val="solid"/>
          </a:ln>
        </p:spPr>
      </p:sp>
      <p:graphicFrame>
        <p:nvGraphicFramePr>
          <p:cNvPr id="6" name="Chart 0" descr=""/>
          <p:cNvGraphicFramePr/>
          <p:nvPr/>
        </p:nvGraphicFramePr>
        <p:xfrm>
          <a:off x="841248" y="1874520"/>
          <a:ext cx="10515600" cy="4251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 / 18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828800" cy="256032"/>
          </a:xfrm>
          <a:prstGeom prst="roundRect">
            <a:avLst>
              <a:gd name="adj" fmla="val 14286"/>
            </a:avLst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57276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03. QUALITY LOOP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구조화는 후처리 부담을 줄인다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161824"/>
          </a:solidFill>
          <a:ln w="12700">
            <a:solidFill>
              <a:srgbClr val="161824"/>
            </a:solidFill>
            <a:prstDash val="solid"/>
          </a:ln>
        </p:spPr>
      </p:sp>
      <p:graphicFrame>
        <p:nvGraphicFramePr>
          <p:cNvPr id="6" name="Chart 0" descr=""/>
          <p:cNvGraphicFramePr/>
          <p:nvPr/>
        </p:nvGraphicFramePr>
        <p:xfrm>
          <a:off x="841248" y="1874520"/>
          <a:ext cx="10515600" cy="4251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 / 18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0" cy="6858000"/>
          </a:xfrm>
          <a:prstGeom prst="rect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5212080"/>
            <a:ext cx="3200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FFFFFF">
                    <a:alpha val="75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600" dirty="0"/>
          </a:p>
        </p:txBody>
      </p:sp>
      <p:sp>
        <p:nvSpPr>
          <p:cNvPr id="4" name="Text 2"/>
          <p:cNvSpPr/>
          <p:nvPr/>
        </p:nvSpPr>
        <p:spPr>
          <a:xfrm>
            <a:off x="3657600" y="219456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957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657600" y="2606040"/>
            <a:ext cx="1371600" cy="45720"/>
          </a:xfrm>
          <a:prstGeom prst="rect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0" y="2697480"/>
            <a:ext cx="78638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How It Works</a:t>
            </a:r>
            <a:endParaRPr lang="en-US" sz="4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828800" cy="256032"/>
          </a:xfrm>
          <a:prstGeom prst="roundRect">
            <a:avLst>
              <a:gd name="adj" fmla="val 14286"/>
            </a:avLst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57276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04. ARCHITECTURE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Planning과 rendering을 분리한다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161824"/>
          </a:solidFill>
          <a:ln w="12700">
            <a:solidFill>
              <a:srgbClr val="16182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2593848" y="2583180"/>
            <a:ext cx="3505200" cy="1417320"/>
          </a:xfrm>
          <a:prstGeom prst="line">
            <a:avLst/>
          </a:prstGeom>
          <a:noFill/>
          <a:ln w="19050">
            <a:solidFill>
              <a:srgbClr val="5B5F78"/>
            </a:solidFill>
            <a:prstDash val="solid"/>
            <a:tailEnd type="arrow"/>
          </a:ln>
        </p:spPr>
      </p:sp>
      <p:sp>
        <p:nvSpPr>
          <p:cNvPr id="7" name="Text 5"/>
          <p:cNvSpPr/>
          <p:nvPr/>
        </p:nvSpPr>
        <p:spPr>
          <a:xfrm>
            <a:off x="3797808" y="31089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intent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099048" y="2583180"/>
            <a:ext cx="9144" cy="1417320"/>
          </a:xfrm>
          <a:prstGeom prst="line">
            <a:avLst/>
          </a:prstGeom>
          <a:noFill/>
          <a:ln w="19050">
            <a:solidFill>
              <a:srgbClr val="5B5F78"/>
            </a:solidFill>
            <a:prstDash val="solid"/>
            <a:tailEnd type="arrow"/>
          </a:ln>
        </p:spPr>
      </p:sp>
      <p:sp>
        <p:nvSpPr>
          <p:cNvPr id="9" name="Text 7"/>
          <p:cNvSpPr/>
          <p:nvPr/>
        </p:nvSpPr>
        <p:spPr>
          <a:xfrm>
            <a:off x="5550408" y="31089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099048" y="4000500"/>
            <a:ext cx="3505200" cy="9144"/>
          </a:xfrm>
          <a:prstGeom prst="line">
            <a:avLst/>
          </a:prstGeom>
          <a:noFill/>
          <a:ln w="19050">
            <a:solidFill>
              <a:srgbClr val="5B5F78"/>
            </a:solidFill>
            <a:prstDash val="solid"/>
            <a:tailEnd type="arrow"/>
          </a:ln>
        </p:spPr>
      </p:sp>
      <p:sp>
        <p:nvSpPr>
          <p:cNvPr id="11" name="Text 9"/>
          <p:cNvSpPr/>
          <p:nvPr/>
        </p:nvSpPr>
        <p:spPr>
          <a:xfrm>
            <a:off x="7303008" y="38176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schema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 flipV="1">
            <a:off x="6099048" y="4000500"/>
            <a:ext cx="3505200" cy="1417320"/>
          </a:xfrm>
          <a:prstGeom prst="line">
            <a:avLst/>
          </a:prstGeom>
          <a:noFill/>
          <a:ln w="19050">
            <a:solidFill>
              <a:srgbClr val="5B5F78"/>
            </a:solidFill>
            <a:prstDash val="solid"/>
            <a:tailEnd type="arrow"/>
          </a:ln>
        </p:spPr>
      </p:sp>
      <p:sp>
        <p:nvSpPr>
          <p:cNvPr id="13" name="Text 11"/>
          <p:cNvSpPr/>
          <p:nvPr/>
        </p:nvSpPr>
        <p:spPr>
          <a:xfrm>
            <a:off x="7303008" y="45262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design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604248" y="4000500"/>
            <a:ext cx="9144" cy="1417320"/>
          </a:xfrm>
          <a:prstGeom prst="line">
            <a:avLst/>
          </a:prstGeom>
          <a:noFill/>
          <a:ln w="19050">
            <a:solidFill>
              <a:srgbClr val="5B5F78"/>
            </a:solidFill>
            <a:prstDash val="solid"/>
            <a:tailEnd type="arrow"/>
          </a:ln>
        </p:spPr>
      </p:sp>
      <p:sp>
        <p:nvSpPr>
          <p:cNvPr id="15" name="Text 13"/>
          <p:cNvSpPr/>
          <p:nvPr/>
        </p:nvSpPr>
        <p:spPr>
          <a:xfrm>
            <a:off x="9055608" y="45262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1770888" y="3703320"/>
            <a:ext cx="1645920" cy="594360"/>
          </a:xfrm>
          <a:prstGeom prst="rect">
            <a:avLst/>
          </a:prstGeom>
          <a:solidFill>
            <a:srgbClr val="1C1F35"/>
          </a:solidFill>
          <a:ln w="19050">
            <a:solidFill>
              <a:srgbClr val="7B6CF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770888" y="370332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User Request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276088" y="2286000"/>
            <a:ext cx="1645920" cy="594360"/>
          </a:xfrm>
          <a:prstGeom prst="roundRect">
            <a:avLst/>
          </a:prstGeom>
          <a:solidFill>
            <a:srgbClr val="1C1F35"/>
          </a:solidFill>
          <a:ln w="19050">
            <a:solidFill>
              <a:srgbClr val="7B6CF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276088" y="228600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create-deck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276088" y="3703320"/>
            <a:ext cx="1645920" cy="594360"/>
          </a:xfrm>
          <a:prstGeom prst="can">
            <a:avLst/>
          </a:prstGeom>
          <a:solidFill>
            <a:srgbClr val="1C1F35"/>
          </a:solidFill>
          <a:ln w="19050">
            <a:solidFill>
              <a:srgbClr val="7B6CF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276088" y="370332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blueprint.yaml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276088" y="5120640"/>
            <a:ext cx="1645920" cy="594360"/>
          </a:xfrm>
          <a:prstGeom prst="can">
            <a:avLst/>
          </a:prstGeom>
          <a:solidFill>
            <a:srgbClr val="1C1F35"/>
          </a:solidFill>
          <a:ln w="19050">
            <a:solidFill>
              <a:srgbClr val="7B6CF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276088" y="512064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Preset Tokens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781288" y="3703320"/>
            <a:ext cx="1645920" cy="594360"/>
          </a:xfrm>
          <a:prstGeom prst="roundRect">
            <a:avLst/>
          </a:prstGeom>
          <a:solidFill>
            <a:srgbClr val="1C1F35"/>
          </a:solidFill>
          <a:ln w="19050">
            <a:solidFill>
              <a:srgbClr val="7B6CF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781288" y="370332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Compiler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8781288" y="5120640"/>
            <a:ext cx="1645920" cy="594360"/>
          </a:xfrm>
          <a:prstGeom prst="rect">
            <a:avLst/>
          </a:prstGeom>
          <a:solidFill>
            <a:srgbClr val="1C1F35"/>
          </a:solidFill>
          <a:ln w="19050">
            <a:solidFill>
              <a:srgbClr val="7B6CF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781288" y="512064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PPTX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/ 18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463040" cy="256032"/>
          </a:xfrm>
          <a:prstGeom prst="roundRect">
            <a:avLst>
              <a:gd name="adj" fmla="val 14286"/>
            </a:avLst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20700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04. WORKFLOW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작성과 검토를 하나의 루프로 묶는다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161824"/>
          </a:solidFill>
          <a:ln w="12700">
            <a:solidFill>
              <a:srgbClr val="16182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6263640"/>
            <a:ext cx="12188952" cy="310896"/>
          </a:xfrm>
          <a:prstGeom prst="rect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12648" y="6263640"/>
            <a:ext cx="10972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Preview는 자동 종료점이 아니라, 사용자가 확인하고 조정하는 품질 게이트다.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 flipV="1">
            <a:off x="2593848" y="2583180"/>
            <a:ext cx="3505200" cy="1417320"/>
          </a:xfrm>
          <a:prstGeom prst="line">
            <a:avLst/>
          </a:prstGeom>
          <a:noFill/>
          <a:ln w="19050">
            <a:solidFill>
              <a:srgbClr val="5B5F78"/>
            </a:solidFill>
            <a:prstDash val="solid"/>
            <a:tailEnd type="arrow"/>
          </a:ln>
        </p:spPr>
      </p:sp>
      <p:sp>
        <p:nvSpPr>
          <p:cNvPr id="9" name="Shape 7"/>
          <p:cNvSpPr/>
          <p:nvPr/>
        </p:nvSpPr>
        <p:spPr>
          <a:xfrm>
            <a:off x="6099048" y="2583180"/>
            <a:ext cx="9144" cy="1417320"/>
          </a:xfrm>
          <a:prstGeom prst="line">
            <a:avLst/>
          </a:prstGeom>
          <a:noFill/>
          <a:ln w="19050">
            <a:solidFill>
              <a:srgbClr val="5B5F78"/>
            </a:solidFill>
            <a:prstDash val="solid"/>
            <a:tailEnd type="arrow"/>
          </a:ln>
        </p:spPr>
      </p:sp>
      <p:sp>
        <p:nvSpPr>
          <p:cNvPr id="10" name="Shape 8"/>
          <p:cNvSpPr/>
          <p:nvPr/>
        </p:nvSpPr>
        <p:spPr>
          <a:xfrm>
            <a:off x="6099048" y="4000500"/>
            <a:ext cx="3505200" cy="9144"/>
          </a:xfrm>
          <a:prstGeom prst="line">
            <a:avLst/>
          </a:prstGeom>
          <a:noFill/>
          <a:ln w="19050">
            <a:solidFill>
              <a:srgbClr val="5B5F78"/>
            </a:solidFill>
            <a:prstDash val="solid"/>
            <a:tailEnd type="arrow"/>
          </a:ln>
        </p:spPr>
      </p:sp>
      <p:sp>
        <p:nvSpPr>
          <p:cNvPr id="11" name="Shape 9"/>
          <p:cNvSpPr/>
          <p:nvPr/>
        </p:nvSpPr>
        <p:spPr>
          <a:xfrm flipH="1">
            <a:off x="6099048" y="4000500"/>
            <a:ext cx="3505200" cy="1417320"/>
          </a:xfrm>
          <a:prstGeom prst="line">
            <a:avLst/>
          </a:prstGeom>
          <a:noFill/>
          <a:ln w="19050">
            <a:solidFill>
              <a:srgbClr val="5B5F78"/>
            </a:solidFill>
            <a:prstDash val="solid"/>
            <a:tailEnd type="arrow"/>
          </a:ln>
        </p:spPr>
      </p:sp>
      <p:sp>
        <p:nvSpPr>
          <p:cNvPr id="12" name="Shape 10"/>
          <p:cNvSpPr/>
          <p:nvPr/>
        </p:nvSpPr>
        <p:spPr>
          <a:xfrm>
            <a:off x="6099048" y="5417820"/>
            <a:ext cx="3505200" cy="9144"/>
          </a:xfrm>
          <a:prstGeom prst="line">
            <a:avLst/>
          </a:prstGeom>
          <a:noFill/>
          <a:ln w="19050">
            <a:solidFill>
              <a:srgbClr val="5B5F78"/>
            </a:solidFill>
            <a:prstDash val="solid"/>
            <a:tailEnd type="arrow"/>
          </a:ln>
        </p:spPr>
      </p:sp>
      <p:sp>
        <p:nvSpPr>
          <p:cNvPr id="13" name="Shape 11"/>
          <p:cNvSpPr/>
          <p:nvPr/>
        </p:nvSpPr>
        <p:spPr>
          <a:xfrm flipH="1" flipV="1">
            <a:off x="6099048" y="4000500"/>
            <a:ext cx="3505200" cy="1417320"/>
          </a:xfrm>
          <a:prstGeom prst="line">
            <a:avLst/>
          </a:prstGeom>
          <a:noFill/>
          <a:ln w="19050">
            <a:solidFill>
              <a:srgbClr val="5B5F78"/>
            </a:solidFill>
            <a:prstDash val="solid"/>
            <a:tailEnd type="arrow"/>
          </a:ln>
        </p:spPr>
      </p:sp>
      <p:sp>
        <p:nvSpPr>
          <p:cNvPr id="14" name="Shape 12"/>
          <p:cNvSpPr/>
          <p:nvPr/>
        </p:nvSpPr>
        <p:spPr>
          <a:xfrm>
            <a:off x="1770888" y="3703320"/>
            <a:ext cx="1645920" cy="594360"/>
          </a:xfrm>
          <a:prstGeom prst="rect">
            <a:avLst/>
          </a:prstGeom>
          <a:solidFill>
            <a:srgbClr val="1C1F35"/>
          </a:solidFill>
          <a:ln w="19050">
            <a:solidFill>
              <a:srgbClr val="7B6CF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770888" y="370332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Brief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276088" y="2286000"/>
            <a:ext cx="1645920" cy="594360"/>
          </a:xfrm>
          <a:prstGeom prst="roundRect">
            <a:avLst/>
          </a:prstGeom>
          <a:solidFill>
            <a:srgbClr val="1C1F35"/>
          </a:solidFill>
          <a:ln w="19050">
            <a:solidFill>
              <a:srgbClr val="7B6CF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276088" y="228600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Slide Plan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276088" y="3703320"/>
            <a:ext cx="1645920" cy="594360"/>
          </a:xfrm>
          <a:prstGeom prst="can">
            <a:avLst/>
          </a:prstGeom>
          <a:solidFill>
            <a:srgbClr val="1C1F35"/>
          </a:solidFill>
          <a:ln w="19050">
            <a:solidFill>
              <a:srgbClr val="7B6CF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276088" y="370332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Blueprint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781288" y="3703320"/>
            <a:ext cx="1645920" cy="594360"/>
          </a:xfrm>
          <a:prstGeom prst="rect">
            <a:avLst/>
          </a:prstGeom>
          <a:solidFill>
            <a:srgbClr val="1C1F35"/>
          </a:solidFill>
          <a:ln w="19050">
            <a:solidFill>
              <a:srgbClr val="7B6CF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781288" y="370332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PPTX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276088" y="5120640"/>
            <a:ext cx="1645920" cy="594360"/>
          </a:xfrm>
          <a:prstGeom prst="cloud">
            <a:avLst/>
          </a:prstGeom>
          <a:solidFill>
            <a:srgbClr val="1C1F35"/>
          </a:solidFill>
          <a:ln w="19050">
            <a:solidFill>
              <a:srgbClr val="7B6CF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276088" y="512064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Preview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781288" y="5120640"/>
            <a:ext cx="1645920" cy="594360"/>
          </a:xfrm>
          <a:prstGeom prst="roundRect">
            <a:avLst/>
          </a:prstGeom>
          <a:solidFill>
            <a:srgbClr val="1C1F35"/>
          </a:solidFill>
          <a:ln w="19050">
            <a:solidFill>
              <a:srgbClr val="7B6CF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781288" y="512064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 Loop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371600" cy="256032"/>
          </a:xfrm>
          <a:prstGeom prst="roundRect">
            <a:avLst>
              <a:gd name="adj" fmla="val 14286"/>
            </a:avLst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11556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05. PRESETS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구조를 다른 톤으로 바꾼다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161824"/>
          </a:solidFill>
          <a:ln w="12700">
            <a:solidFill>
              <a:srgbClr val="161824"/>
            </a:solidFill>
            <a:prstDash val="solid"/>
          </a:ln>
        </p:spPr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1874520"/>
          <a:ext cx="10515600" cy="914400"/>
        </p:xfrm>
        <a:graphic>
          <a:graphicData uri="http://schemas.openxmlformats.org/drawingml/2006/table">
            <a:tbl>
              <a:tblPr/>
              <a:tblGrid>
                <a:gridCol w="2628900"/>
                <a:gridCol w="2628900"/>
                <a:gridCol w="2628900"/>
                <a:gridCol w="262890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Preset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957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957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Use case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957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Signal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957E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8B8FA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teal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3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8B8FA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dark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3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8B8FA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AI workflow 기본 추천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3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8B8FA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차분한 technical executive tone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3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8B8FA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vivid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82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8B8FA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dark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82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8B8FA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제품 데모와 feature showcase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82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8B8FA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강한 accent와 callout bar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82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8B8FA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modern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3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8B8FA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light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3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8B8FA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비즈니스 보고와 공유 문서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3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8B8FA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밝고 보수적인 office tone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35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/ 18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463040" cy="256032"/>
          </a:xfrm>
          <a:prstGeom prst="roundRect">
            <a:avLst>
              <a:gd name="adj" fmla="val 14286"/>
            </a:avLst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20700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06. TIMELINE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짧은 주기로 품질을 쌓았다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161824"/>
          </a:solidFill>
          <a:ln w="12700">
            <a:solidFill>
              <a:srgbClr val="16182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78408" y="3490265"/>
            <a:ext cx="10241280" cy="0"/>
          </a:xfrm>
          <a:prstGeom prst="line">
            <a:avLst/>
          </a:prstGeom>
          <a:noFill/>
          <a:ln w="25400">
            <a:solidFill>
              <a:srgbClr val="2A2D4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130552" y="3362249"/>
            <a:ext cx="256032" cy="256032"/>
          </a:xfrm>
          <a:prstGeom prst="ellipse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2258568" y="3362249"/>
            <a:ext cx="0" cy="256032"/>
          </a:xfrm>
          <a:prstGeom prst="line">
            <a:avLst/>
          </a:prstGeom>
          <a:noFill/>
          <a:ln w="19050">
            <a:solidFill>
              <a:srgbClr val="6957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69848" y="2923337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957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May 30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69848" y="3709721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Compiler baseline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69848" y="4148633"/>
            <a:ext cx="23774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blueprint schema, renderer, CLI, metadata 기반 구축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690872" y="3362249"/>
            <a:ext cx="256032" cy="256032"/>
          </a:xfrm>
          <a:prstGeom prst="ellipse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4818888" y="3362249"/>
            <a:ext cx="0" cy="256032"/>
          </a:xfrm>
          <a:prstGeom prst="line">
            <a:avLst/>
          </a:prstGeom>
          <a:noFill/>
          <a:ln w="19050">
            <a:solidFill>
              <a:srgbClr val="6957E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30168" y="2923337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957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May 31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30168" y="3709721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Workflow expansion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630168" y="4148633"/>
            <a:ext cx="23774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create/review/export skills, examples, architecture slide 강화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251192" y="3362249"/>
            <a:ext cx="256032" cy="256032"/>
          </a:xfrm>
          <a:prstGeom prst="ellipse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7379208" y="3362249"/>
            <a:ext cx="0" cy="256032"/>
          </a:xfrm>
          <a:prstGeom prst="line">
            <a:avLst/>
          </a:prstGeom>
          <a:noFill/>
          <a:ln w="19050">
            <a:solidFill>
              <a:srgbClr val="6957E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190488" y="2923337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957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Jun 01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190488" y="3709721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Preset system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190488" y="4148633"/>
            <a:ext cx="23774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teal/vivid/modern, results tracking, semantic planning 강화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9811512" y="3362249"/>
            <a:ext cx="256032" cy="256032"/>
          </a:xfrm>
          <a:prstGeom prst="ellipse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9939528" y="3362249"/>
            <a:ext cx="0" cy="256032"/>
          </a:xfrm>
          <a:prstGeom prst="line">
            <a:avLst/>
          </a:prstGeom>
          <a:noFill/>
          <a:ln w="19050">
            <a:solidFill>
              <a:srgbClr val="6957E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50808" y="2923337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957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Now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750808" y="3709721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Showcase results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8750808" y="4148633"/>
            <a:ext cx="23774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 소개 deck을 examples/results 대표 산출물로 승격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/ 18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D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463040" cy="256032"/>
          </a:xfrm>
          <a:prstGeom prst="roundRect">
            <a:avLst>
              <a:gd name="adj" fmla="val 14286"/>
            </a:avLst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20700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07. DECISION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대표 산출물은 제품을 보여줘야 한다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161824"/>
          </a:solidFill>
          <a:ln w="12700">
            <a:solidFill>
              <a:srgbClr val="16182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1248" y="1874520"/>
            <a:ext cx="5166360" cy="3566160"/>
          </a:xfrm>
          <a:prstGeom prst="roundRect">
            <a:avLst>
              <a:gd name="adj" fmla="val 2564"/>
            </a:avLst>
          </a:prstGeom>
          <a:solidFill>
            <a:srgbClr val="1C1F35"/>
          </a:solidFill>
          <a:ln w="12700">
            <a:solidFill>
              <a:srgbClr val="1C1F3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41248" y="1874520"/>
            <a:ext cx="5166360" cy="457200"/>
          </a:xfrm>
          <a:prstGeom prst="roundRect">
            <a:avLst>
              <a:gd name="adj" fmla="val 20000"/>
            </a:avLst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41248" y="187452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Generic sample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05840" y="2441448"/>
            <a:ext cx="4892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B98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 일반적인 비즈니스 deck처럼 읽기 쉽다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05840" y="2779776"/>
            <a:ext cx="4892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B98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 도메인 지식 없이 빠르게 이해된다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1005840" y="3118104"/>
            <a:ext cx="4837176" cy="0"/>
          </a:xfrm>
          <a:prstGeom prst="line">
            <a:avLst/>
          </a:prstGeom>
          <a:noFill/>
          <a:ln w="12700">
            <a:solidFill>
              <a:srgbClr val="2A2D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" y="3255264"/>
            <a:ext cx="4892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✗  제품의 실제 강점을 직접 보여주기 어렵다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05840" y="3593592"/>
            <a:ext cx="4892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✗  preset과 slide type coverage가 약하게 드러난다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190488" y="1874520"/>
            <a:ext cx="5166360" cy="3566160"/>
          </a:xfrm>
          <a:prstGeom prst="roundRect">
            <a:avLst>
              <a:gd name="adj" fmla="val 2564"/>
            </a:avLst>
          </a:prstGeom>
          <a:solidFill>
            <a:srgbClr val="1C1F35"/>
          </a:solidFill>
          <a:ln w="12700">
            <a:solidFill>
              <a:srgbClr val="1C1F3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90488" y="1874520"/>
            <a:ext cx="5166360" cy="457200"/>
          </a:xfrm>
          <a:prstGeom prst="roundRect">
            <a:avLst>
              <a:gd name="adj" fmla="val 20000"/>
            </a:avLst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90488" y="187452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Product showcase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355080" y="2441448"/>
            <a:ext cx="4892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B98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 첫 화면에서 제품 가치를 바로 설명한다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355080" y="2779776"/>
            <a:ext cx="4892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B98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 preset 차이와 slide type coverage를 함께 보여준다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355080" y="3118104"/>
            <a:ext cx="4837176" cy="0"/>
          </a:xfrm>
          <a:prstGeom prst="line">
            <a:avLst/>
          </a:prstGeom>
          <a:noFill/>
          <a:ln w="12700">
            <a:solidFill>
              <a:srgbClr val="2A2D4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355080" y="3255264"/>
            <a:ext cx="4892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✗  예제 자체의 메시지 설계가 더 중요해진다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841248" y="5623560"/>
            <a:ext cx="10515600" cy="502920"/>
          </a:xfrm>
          <a:prstGeom prst="roundRect">
            <a:avLst>
              <a:gd name="adj" fmla="val 14545"/>
            </a:avLst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115568" y="5623560"/>
            <a:ext cx="9966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► 대표 산출물은 제품 자체의 작성 경험과 결과 품질을 보여주는 showcase deck으로 둔다.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 / 18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D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554480" cy="256032"/>
          </a:xfrm>
          <a:prstGeom prst="roundRect">
            <a:avLst>
              <a:gd name="adj" fmla="val 14286"/>
            </a:avLst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29844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08. TAKEAWAYS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판단과 안정적 출력의 결합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161824"/>
          </a:solidFill>
          <a:ln w="12700">
            <a:solidFill>
              <a:srgbClr val="16182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1874520"/>
            <a:ext cx="6099048" cy="4251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8B8F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AI는 source를 읽고 slide type, component, emphasis를 선택한다.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8B8F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Compiler는 blueprint와 preset token을 기반으로 재현 가능한 PPTX를 만든다.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8B8F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Preview와 review loop가 deck 품질을 사람이 확인할 수 있는 단계로 만든다.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214616" y="1874520"/>
            <a:ext cx="4005072" cy="4251960"/>
          </a:xfrm>
          <a:prstGeom prst="roundRect">
            <a:avLst>
              <a:gd name="adj" fmla="val 2283"/>
            </a:avLst>
          </a:prstGeom>
          <a:solidFill>
            <a:srgbClr val="1C1F35"/>
          </a:solidFill>
          <a:ln w="12700">
            <a:solidFill>
              <a:srgbClr val="1C1F3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214616" y="1874520"/>
            <a:ext cx="4005072" cy="457200"/>
          </a:xfrm>
          <a:prstGeom prst="roundRect">
            <a:avLst>
              <a:gd name="adj" fmla="val 20000"/>
            </a:avLst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214616" y="1874520"/>
            <a:ext cx="40050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Key Takeaways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415784" y="2724912"/>
            <a:ext cx="219456" cy="219456"/>
          </a:xfrm>
          <a:prstGeom prst="rect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415784" y="2724912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726680" y="2423160"/>
            <a:ext cx="334670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자연어 요청을 편집 가능한 PowerPoint 구조로 바꾼다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415784" y="3547872"/>
            <a:ext cx="219456" cy="219456"/>
          </a:xfrm>
          <a:prstGeom prst="rect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15784" y="3547872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7726680" y="3246120"/>
            <a:ext cx="334670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blueprint를 여러 preset으로 재사용할 수 있다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415784" y="4370832"/>
            <a:ext cx="219456" cy="219456"/>
          </a:xfrm>
          <a:prstGeom prst="rect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15784" y="4370832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726680" y="4069080"/>
            <a:ext cx="334670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examples/results는 제품 기능을 보여주는 살아있는 showcase가 된다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 / 18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D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097280" cy="256032"/>
          </a:xfrm>
          <a:prstGeom prst="roundRect">
            <a:avLst>
              <a:gd name="adj" fmla="val 14286"/>
            </a:avLst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84124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APPENDIX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Regeneration commands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161824"/>
          </a:solidFill>
          <a:ln w="12700">
            <a:solidFill>
              <a:srgbClr val="16182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1737360"/>
            <a:ext cx="10698480" cy="1920240"/>
          </a:xfrm>
          <a:prstGeom prst="roundRect">
            <a:avLst>
              <a:gd name="adj" fmla="val 2857"/>
            </a:avLst>
          </a:prstGeom>
          <a:solidFill>
            <a:srgbClr val="1C1F35"/>
          </a:solidFill>
          <a:ln w="9525">
            <a:solidFill>
              <a:srgbClr val="3A3D5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1874520"/>
            <a:ext cx="10698480" cy="1783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Bef>
                <a:spcPts val="200"/>
              </a:spcBef>
              <a:spcAft>
                <a:spcPts val="600"/>
              </a:spcAft>
              <a:buSzPct val="100000"/>
              <a:buChar char="❯"/>
            </a:pPr>
            <a:r>
              <a:rPr lang="en-US" sz="12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deck -- --blueprint examples/results/showcase-teal-dark.blueprint.yaml --output examples/results/showcase-teal-dark.pptx</a:t>
            </a:r>
            <a:endParaRPr lang="en-US" sz="1200" dirty="0"/>
          </a:p>
          <a:p>
            <a:pPr marL="190500" indent="-190500">
              <a:spcBef>
                <a:spcPts val="200"/>
              </a:spcBef>
              <a:spcAft>
                <a:spcPts val="600"/>
              </a:spcAft>
              <a:buSzPct val="100000"/>
              <a:buChar char="❯"/>
            </a:pPr>
            <a:r>
              <a:rPr lang="en-US" sz="12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deck -- --blueprint examples/results/showcase-vivid-dark.blueprint.yaml --output examples/results/showcase-vivid-dark.pptx</a:t>
            </a:r>
            <a:endParaRPr lang="en-US" sz="1200" dirty="0"/>
          </a:p>
          <a:p>
            <a:pPr marL="190500" indent="-190500">
              <a:spcBef>
                <a:spcPts val="200"/>
              </a:spcBef>
              <a:spcAft>
                <a:spcPts val="600"/>
              </a:spcAft>
              <a:buSzPct val="100000"/>
              <a:buChar char="❯"/>
            </a:pPr>
            <a:r>
              <a:rPr lang="en-US" sz="12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deck -- --blueprint examples/results/showcase-modern-light.blueprint.yaml --output examples/results/showcase-modern-light.pptx</a:t>
            </a:r>
            <a:endParaRPr lang="en-US" sz="1200" dirty="0"/>
          </a:p>
          <a:p>
            <a:pPr marL="190500" indent="-190500">
              <a:spcBef>
                <a:spcPts val="200"/>
              </a:spcBef>
              <a:spcAft>
                <a:spcPts val="600"/>
              </a:spcAft>
              <a:buSzPct val="100000"/>
              <a:buChar char="❯"/>
            </a:pPr>
            <a:r>
              <a:rPr lang="en-US" sz="12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preview -- examples/results/showcase-teal-dark.pptx --out temp/showcase-teal-preview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12648" y="3995928"/>
            <a:ext cx="10972800" cy="21305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Preview vivid/modern: 같은 명령에서 파일명과 --out 경로만 vivid 또는 modern으로 바꾼다.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 / 18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D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12648" y="219456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>
                    <a:alpha val="80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 showcase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12648" y="265176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Decks as structured artifacts</a:t>
            </a:r>
            <a:endParaRPr lang="en-US" sz="5600" dirty="0"/>
          </a:p>
        </p:txBody>
      </p:sp>
      <p:sp>
        <p:nvSpPr>
          <p:cNvPr id="5" name="Shape 3"/>
          <p:cNvSpPr/>
          <p:nvPr/>
        </p:nvSpPr>
        <p:spPr>
          <a:xfrm>
            <a:off x="1321308" y="3703320"/>
            <a:ext cx="9546336" cy="457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2648" y="3959352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>
                    <a:alpha val="80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Prompt로 시작해도 결과는 검증 가능한 blueprint와 editable PPTX로 남는다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ai-deck-compiler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ai-deck-compiler Showcase</dc:title>
  <dc:subject>ai-deck-compiler Showcase — Product, Engineering, and AI Workflow Leads</dc:subject>
  <dc:creator>ai-deck-compiler</dc:creator>
  <cp:lastModifiedBy>ai-deck-compiler</cp:lastModifiedBy>
  <cp:revision>1</cp:revision>
  <dcterms:created xsi:type="dcterms:W3CDTF">2026-06-01T04:23:39Z</dcterms:created>
  <dcterms:modified xsi:type="dcterms:W3CDTF">2026-06-01T04:23:39Z</dcterms:modified>
</cp:coreProperties>
</file>